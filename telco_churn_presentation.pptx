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626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D4949"/>
          </a:solidFill>
          <a:ln w="1270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1B4F8A">
              <a:alpha val="22000"/>
            </a:srgbClr>
          </a:solidFill>
          <a:ln w="12700">
            <a:solidFill>
              <a:srgbClr val="1B4F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3108960"/>
            <a:ext cx="2286000" cy="2286000"/>
          </a:xfrm>
          <a:prstGeom prst="ellipse">
            <a:avLst/>
          </a:prstGeom>
          <a:solidFill>
            <a:srgbClr val="DD4949">
              <a:alpha val="15000"/>
            </a:srgbClr>
          </a:solidFill>
          <a:ln w="12700">
            <a:solidFill>
              <a:srgbClr val="DD49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kern="0" spc="500" dirty="0">
                <a:solidFill>
                  <a:srgbClr val="FFFFFF"/>
                </a:solidFill>
              </a:rPr>
              <a:t>TELCO CUSTOMER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kern="0" spc="500" dirty="0">
                <a:solidFill>
                  <a:srgbClr val="DD4949"/>
                </a:solidFill>
              </a:rPr>
              <a:t>CHURN ANALYSIS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</a:rPr>
              <a:t>A complete data science project — from raw data to retention strategy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5029200" cy="36576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D4949"/>
                </a:solidFill>
              </a:rPr>
              <a:t>7,044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Customers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3017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D4949"/>
                </a:solidFill>
              </a:rPr>
              <a:t>21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Features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3017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D4949"/>
                </a:solidFill>
              </a:rPr>
              <a:t>26.5%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Churn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3017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D4949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Notebooks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Data Analysis Project  ·  Machine Learning  ·  Business Strategy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PROJECT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End-to-end analytical workflow across four notebooks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92608" y="1188720"/>
            <a:ext cx="1572768" cy="32004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1188720"/>
            <a:ext cx="1572768" cy="6400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371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8A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8328" y="193852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Understanding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1426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Column analysis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Dependency mapping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quality audit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5376" y="2770632"/>
            <a:ext cx="14630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0" y="1188720"/>
            <a:ext cx="1572768" cy="32004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1188720"/>
            <a:ext cx="1572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1371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57400" y="193852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2606040"/>
            <a:ext cx="1426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Type fixes · Encoding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Gated columns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Stratified split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84448" y="2770632"/>
            <a:ext cx="14630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30752" y="1188720"/>
            <a:ext cx="1572768" cy="32004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30752" y="1188720"/>
            <a:ext cx="1572768" cy="64008"/>
          </a:xfrm>
          <a:prstGeom prst="rect">
            <a:avLst/>
          </a:prstGeom>
          <a:solidFill>
            <a:srgbClr val="E07B3A"/>
          </a:solidFill>
          <a:ln w="12700">
            <a:solidFill>
              <a:srgbClr val="E07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30752" y="1371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B3A"/>
                </a:solidFill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76472" y="193852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EDA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03904" y="2606040"/>
            <a:ext cx="1426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Demographics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Service analysis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Churn correlations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2770632"/>
            <a:ext cx="14630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49824" y="1188720"/>
            <a:ext cx="1572768" cy="32004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49824" y="1188720"/>
            <a:ext cx="1572768" cy="64008"/>
          </a:xfrm>
          <a:prstGeom prst="rect">
            <a:avLst/>
          </a:prstGeom>
          <a:solidFill>
            <a:srgbClr val="DD4949"/>
          </a:solidFill>
          <a:ln w="1270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49824" y="1371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D4949"/>
                </a:solidFill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95544" y="193852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ML Modeling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22976" y="2606040"/>
            <a:ext cx="1426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Logistic Regression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Random Forest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XGBoost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22592" y="2770632"/>
            <a:ext cx="14630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68896" y="1188720"/>
            <a:ext cx="1572768" cy="32004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68896" y="1188720"/>
            <a:ext cx="1572768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68896" y="1371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E44AD"/>
                </a:solidFill>
              </a:rPr>
              <a:t>05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214616" y="193852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Cost Simulation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42048" y="2606040"/>
            <a:ext cx="1426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Revenue loss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Retention strategies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Break-even analysis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</a:rPr>
              <a:t>Dataset: IBM Watson Telco Customer Churn  ·  7,044 rows · 21 columns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Understanding the raw data structure and quality issues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3931920" cy="35661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Groups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4572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627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Demographics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8836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gender · senior citizen · partner · dependents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57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2221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Account Info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4780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tenure · contract · payment method · billing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45720" cy="384048"/>
          </a:xfrm>
          <a:prstGeom prst="rect">
            <a:avLst/>
          </a:prstGeom>
          <a:solidFill>
            <a:srgbClr val="E07B3A"/>
          </a:solidFill>
          <a:ln w="12700">
            <a:solidFill>
              <a:srgbClr val="E07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816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Phone Services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30723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phone service · multiple lines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3474720"/>
            <a:ext cx="45720" cy="384048"/>
          </a:xfrm>
          <a:prstGeom prst="rect">
            <a:avLst/>
          </a:prstGeom>
          <a:solidFill>
            <a:srgbClr val="DD4949"/>
          </a:solidFill>
          <a:ln w="1270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410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Internet Services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36667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internet type · 6 add-on columns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4572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" y="4005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Financials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" y="42611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monthly charges · total charges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62272" y="1097280"/>
            <a:ext cx="4315968" cy="35661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1207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Quality Issues Found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1700784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DD4949">
              <a:alpha val="80000"/>
            </a:srgbClr>
          </a:solidFill>
          <a:ln w="635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17720" y="170078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chemeClr val="bg1"/>
                </a:solidFill>
              </a:rPr>
              <a:t>TYPE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285232" y="166420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TotalCharges stored as string with 11 blank rows (tenure=0 customers)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26771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DD4949">
              <a:alpha val="80000"/>
            </a:srgbClr>
          </a:solidFill>
          <a:ln w="635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7720" y="22677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chemeClr val="bg1"/>
                </a:solidFill>
              </a:rPr>
              <a:t>ENCODE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85232" y="22311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SeniorCitizen uses int 0/1 while all other binary columns use Yes/No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2834640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DD4949">
              <a:alpha val="80000"/>
            </a:srgbClr>
          </a:solidFill>
          <a:ln w="635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17720" y="283464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chemeClr val="bg1"/>
                </a:solidFill>
              </a:rPr>
              <a:t>REDUND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85232" y="27980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'No phone/internet service' is redundant in 7 dependent columns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3401568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DD4949">
              <a:alpha val="80000"/>
            </a:srgbClr>
          </a:solidFill>
          <a:ln w="635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7720" y="34015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chemeClr val="bg1"/>
                </a:solidFill>
              </a:rPr>
              <a:t>IMBAL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285232" y="336499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Class imbalance — 73.5% No Churn vs 26.5% Churn in target variable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3968496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DD4949">
              <a:alpha val="80000"/>
            </a:srgbClr>
          </a:solidFill>
          <a:ln w="635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17720" y="396849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chemeClr val="bg1"/>
                </a:solidFill>
              </a:rPr>
              <a:t>ID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85232" y="39319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customerID is a non-informative key — must be dropped before modeling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</a:rPr>
              <a:t>All 9 issues documented · 7,044 rows retained after cleaning · 0 records dropped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CHURN DISTRIBUTION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1 in 4 customers leaves — the baseline problem</a:t>
            </a:r>
            <a:endParaRPr lang="en-US" sz="1100" dirty="0"/>
          </a:p>
        </p:txBody>
      </p:sp>
      <p:pic>
        <p:nvPicPr>
          <p:cNvPr id="4" name="Image 0" descr="/home/claude/charts/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32004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03320" y="1143000"/>
            <a:ext cx="2423160" cy="109728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703320" y="1252728"/>
            <a:ext cx="2423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7,044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703320" y="1823314"/>
            <a:ext cx="24231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Total Customers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309360" y="1143000"/>
            <a:ext cx="2423160" cy="109728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09360" y="1252728"/>
            <a:ext cx="2423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F8A"/>
                </a:solidFill>
              </a:rPr>
              <a:t>5,174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309360" y="1823314"/>
            <a:ext cx="24231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Retained (73.5%)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703320" y="2468880"/>
            <a:ext cx="2423160" cy="109728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703320" y="2578608"/>
            <a:ext cx="2423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D4949"/>
                </a:solidFill>
              </a:rPr>
              <a:t>1,869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703320" y="3149194"/>
            <a:ext cx="24231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Churned (26.5%)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09360" y="2468880"/>
            <a:ext cx="2423160" cy="109728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09360" y="2578608"/>
            <a:ext cx="2423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B3A"/>
                </a:solidFill>
              </a:rPr>
              <a:t>$74.44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309360" y="3149194"/>
            <a:ext cx="24231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Avg Monthly — Churned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703320" y="3703320"/>
            <a:ext cx="5029200" cy="804672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840480" y="374904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3A"/>
                </a:solidFill>
              </a:rPr>
              <a:t>Class Imbalance Alert: </a:t>
            </a:r>
            <a:r>
              <a:rPr lang="en-US" sz="950" dirty="0">
                <a:solidFill>
                  <a:srgbClr val="94A3B8"/>
                </a:solidFill>
              </a:rPr>
              <a:t>The 73.5/26.5 split means naive models will over-predict 'No Churn'. All models trained with class balancing.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DEMOGRAPHICS &amp; CHURN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Family anchoring reduces churn significantly — gender has no effect</a:t>
            </a:r>
            <a:endParaRPr lang="en-US" sz="1100" dirty="0"/>
          </a:p>
        </p:txBody>
      </p:sp>
      <p:pic>
        <p:nvPicPr>
          <p:cNvPr id="4" name="Image 0" descr="/home/claude/charts/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8449056" cy="2514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3703320"/>
            <a:ext cx="8449056" cy="123444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75488" y="3794760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3794760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Gender: Male vs Female churn is identical (~26%) — not a useful predictor for targeting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4160520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4949"/>
                </a:solidFill>
              </a:rPr>
              <a:t>↑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4160520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Senior Citizens churn at 41% — nearly double the non-senior rate of 24%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5488" y="4526280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8A"/>
                </a:solidFill>
              </a:rPr>
              <a:t>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4526280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Partner &amp; Dependents both reduce churn — family ties create switching friction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SERVICES &amp; CONTRACT TYPE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Contract type is the single strongest lever — fiber optic users are the highest-risk segment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4160520" cy="28803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Churn Rate by Contract</a:t>
            </a:r>
            <a:endParaRPr lang="en-US" sz="1100" dirty="0"/>
          </a:p>
        </p:txBody>
      </p:sp>
      <p:pic>
        <p:nvPicPr>
          <p:cNvPr id="6" name="Image 0" descr="/home/claude/charts/contract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44752"/>
            <a:ext cx="4160520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81728" y="1051560"/>
            <a:ext cx="4114800" cy="28803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28032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Churn Rate by Internet Service</a:t>
            </a:r>
            <a:endParaRPr lang="en-US" sz="1100" dirty="0"/>
          </a:p>
        </p:txBody>
      </p:sp>
      <p:pic>
        <p:nvPicPr>
          <p:cNvPr id="9" name="Image 1" descr="/home/claude/charts/internet_chu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444752"/>
            <a:ext cx="4114800" cy="2331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" y="4041648"/>
            <a:ext cx="1993392" cy="9144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47472" y="415137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D4949"/>
                </a:solidFill>
              </a:rPr>
              <a:t>43%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347472" y="46085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Month-to-month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churn rate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514600" y="4041648"/>
            <a:ext cx="1993392" cy="9144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514600" y="415137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F8A"/>
                </a:solidFill>
              </a:rPr>
              <a:t>3%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2514600" y="46085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Two-year contract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churn rate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81728" y="4041648"/>
            <a:ext cx="1993392" cy="9144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681728" y="415137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B3A"/>
                </a:solidFill>
              </a:rPr>
              <a:t>42%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4681728" y="46085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Fiber optic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churn rate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848856" y="4041648"/>
            <a:ext cx="1993392" cy="9144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848856" y="415137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F8A"/>
                </a:solidFill>
              </a:rPr>
              <a:t>7%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6848856" y="46085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No internet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churn rate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TENURE &amp; MONTHLY CHARGES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Churn is front-loaded — most exits happen in the first year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3657600" cy="28803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Tenure Distribution</a:t>
            </a:r>
            <a:endParaRPr lang="en-US" sz="1100" dirty="0"/>
          </a:p>
        </p:txBody>
      </p:sp>
      <p:pic>
        <p:nvPicPr>
          <p:cNvPr id="6" name="Image 0" descr="/home/claude/charts/tenure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26464"/>
            <a:ext cx="3657600" cy="2423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60520" y="1051560"/>
            <a:ext cx="4636008" cy="28803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15968" y="11521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Monthly Charges Distribution</a:t>
            </a:r>
            <a:endParaRPr lang="en-US" sz="1100" dirty="0"/>
          </a:p>
        </p:txBody>
      </p:sp>
      <p:pic>
        <p:nvPicPr>
          <p:cNvPr id="9" name="Image 1" descr="/home/claude/charts/monthly_k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426464"/>
            <a:ext cx="4636008" cy="2423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" y="4041648"/>
            <a:ext cx="1627632" cy="896112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47472" y="4151376"/>
            <a:ext cx="1627632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D4949"/>
                </a:solidFill>
              </a:rPr>
              <a:t>10 mo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347472" y="4597237"/>
            <a:ext cx="1627632" cy="30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Median tenure — Churned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103120" y="4041648"/>
            <a:ext cx="1627632" cy="896112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103120" y="4151376"/>
            <a:ext cx="1627632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F8A"/>
                </a:solidFill>
              </a:rPr>
              <a:t>38 mo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2103120" y="4597237"/>
            <a:ext cx="1627632" cy="30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Median tenure — Retained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858768" y="4041648"/>
            <a:ext cx="1627632" cy="896112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858768" y="4151376"/>
            <a:ext cx="1627632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B3A"/>
                </a:solidFill>
              </a:rPr>
              <a:t>$79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858768" y="4597237"/>
            <a:ext cx="1627632" cy="30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Median monthly — Churned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14416" y="4041648"/>
            <a:ext cx="1627632" cy="896112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614416" y="4151376"/>
            <a:ext cx="1627632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F8A"/>
                </a:solidFill>
              </a:rPr>
              <a:t>$61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5614416" y="4597237"/>
            <a:ext cx="1627632" cy="30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Median monthly — Retained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370064" y="4041648"/>
            <a:ext cx="1426464" cy="896112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370064" y="4151376"/>
            <a:ext cx="1627632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D4949"/>
                </a:solidFill>
              </a:rPr>
              <a:t>47%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7266867" y="4597237"/>
            <a:ext cx="1627632" cy="30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Churn rate: first 12 months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ML MODEL COMPARISON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Three models trained with class balancing on an 80/20 stratified split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4160520" cy="306324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ROC Curves</a:t>
            </a:r>
            <a:endParaRPr lang="en-US" sz="1100" dirty="0"/>
          </a:p>
        </p:txBody>
      </p:sp>
      <p:pic>
        <p:nvPicPr>
          <p:cNvPr id="6" name="Image 0" descr="/home/claude/charts/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4114800" cy="2606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81728" y="1051560"/>
            <a:ext cx="4114800" cy="306324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28032" y="1152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Performance Metrics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36592" y="1481328"/>
          <a:ext cx="3977640" cy="190195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Log. Reg.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74.8%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77.2%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58.3%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0.842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Rand. Forest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79.4%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75.6%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63.2%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0.840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D4949"/>
                          </a:solidFill>
                        </a:rPr>
                        <a:t>✦ XGBoost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D4949"/>
                          </a:solidFill>
                        </a:rPr>
                        <a:t>80.6%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D4949"/>
                          </a:solidFill>
                        </a:rPr>
                        <a:t>79.1%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D4949"/>
                          </a:solidFill>
                        </a:rPr>
                        <a:t>65.8%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D4949"/>
                          </a:solidFill>
                        </a:rPr>
                        <a:t>0.851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47472" y="4224528"/>
            <a:ext cx="8449056" cy="713232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47472" y="4224528"/>
            <a:ext cx="64008" cy="713232"/>
          </a:xfrm>
          <a:prstGeom prst="rect">
            <a:avLst/>
          </a:prstGeom>
          <a:solidFill>
            <a:srgbClr val="DD4949"/>
          </a:solidFill>
          <a:ln w="1270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30352" y="4279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4949"/>
                </a:solidFill>
              </a:rPr>
              <a:t>RECOMMENDED: XGBoost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30352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Highest AUC (0.851) and Recall (79.1%) across all folds. Best at catching actual churners — the business-critical metric.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WHAT DRIVES CHURN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Top 5 features by consensus rank across all three models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3931920" cy="38862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 Gain Importance</a:t>
            </a:r>
            <a:endParaRPr lang="en-US" sz="1100" dirty="0"/>
          </a:p>
        </p:txBody>
      </p:sp>
      <p:pic>
        <p:nvPicPr>
          <p:cNvPr id="6" name="Image 0" descr="/home/claude/chart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26464"/>
            <a:ext cx="393192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62272" y="1051560"/>
            <a:ext cx="4315968" cy="6858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462272" y="1051560"/>
            <a:ext cx="54864" cy="685800"/>
          </a:xfrm>
          <a:prstGeom prst="rect">
            <a:avLst/>
          </a:prstGeom>
          <a:solidFill>
            <a:srgbClr val="DD4949"/>
          </a:solidFill>
          <a:ln w="1270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1772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Tenure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17720" y="13533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Early-lifecycle customers at highest risk. First 12 months = critical retention window.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462272" y="1819656"/>
            <a:ext cx="4315968" cy="6858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62272" y="1819656"/>
            <a:ext cx="54864" cy="685800"/>
          </a:xfrm>
          <a:prstGeom prst="rect">
            <a:avLst/>
          </a:prstGeom>
          <a:solidFill>
            <a:srgbClr val="DD4949"/>
          </a:solidFill>
          <a:ln w="1270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17720" y="18653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Contract Type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17720" y="21214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Month-to-month = no switching cost. Contract upgrades are the most reliable churn insulator.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462272" y="2587752"/>
            <a:ext cx="4315968" cy="6858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462272" y="2587752"/>
            <a:ext cx="54864" cy="685800"/>
          </a:xfrm>
          <a:prstGeom prst="rect">
            <a:avLst/>
          </a:prstGeom>
          <a:solidFill>
            <a:srgbClr val="E07B3A"/>
          </a:solidFill>
          <a:ln w="12700">
            <a:solidFill>
              <a:srgbClr val="E07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17720" y="2633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Monthly Charges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17720" y="288950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High bills without perceived value push customers out. Consider targeted plan audits.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462272" y="3355848"/>
            <a:ext cx="4315968" cy="6858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462272" y="3355848"/>
            <a:ext cx="54864" cy="685800"/>
          </a:xfrm>
          <a:prstGeom prst="rect">
            <a:avLst/>
          </a:prstGeom>
          <a:solidFill>
            <a:srgbClr val="E07B3A"/>
          </a:solidFill>
          <a:ln w="12700">
            <a:solidFill>
              <a:srgbClr val="E07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617720" y="3401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Internet: Fiber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617720" y="36576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Fiber users churn at 2× DSL rate. Service quality or expectation mismatch — not price alone.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462272" y="4123944"/>
            <a:ext cx="4315968" cy="68580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462272" y="4123944"/>
            <a:ext cx="54864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17720" y="41696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 Support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617720" y="442569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Having Tech Support halves churn rate. Proactive bundling creates stickiness.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COST &amp; RETENTION STRATEGY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Quantifying the revenue loss and simulating two retention interventions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4160520" cy="24231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Impact of Churn</a:t>
            </a:r>
            <a:endParaRPr lang="en-US" sz="1100" dirty="0"/>
          </a:p>
        </p:txBody>
      </p:sp>
      <p:pic>
        <p:nvPicPr>
          <p:cNvPr id="6" name="Image 0" descr="/home/claude/charts/revenue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08176"/>
            <a:ext cx="4160520" cy="19933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81728" y="1051560"/>
            <a:ext cx="1993392" cy="24231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681728" y="1051560"/>
            <a:ext cx="1993392" cy="54864"/>
          </a:xfrm>
          <a:prstGeom prst="rect">
            <a:avLst/>
          </a:prstGeom>
          <a:solidFill>
            <a:srgbClr val="E07B3A"/>
          </a:solidFill>
          <a:ln w="12700">
            <a:solidFill>
              <a:srgbClr val="E07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54880" y="1115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7B3A"/>
                </a:solidFill>
              </a:rPr>
              <a:t>STRATEGY 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54880" y="1344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Discount Offer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16093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20% bill discount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 6 months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54880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Retention: ~45%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0" y="22494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A"/>
                </a:solidFill>
              </a:rPr>
              <a:t>Net:       +$1.8M recovered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54880" y="25054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A"/>
                </a:solidFill>
              </a:rPr>
              <a:t>✓ Low break-even threshold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5488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✗ Trains price-hunting behaviour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876288" y="1051560"/>
            <a:ext cx="1993392" cy="24231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76288" y="1051560"/>
            <a:ext cx="1993392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49440" y="1115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E44AD"/>
                </a:solidFill>
              </a:rPr>
              <a:t>STRATEGY B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949440" y="1344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Loyalty Perks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49440" y="16093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Free Tech Support +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Security for 12 months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949440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Retention: ~35%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49440" y="22494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44AD"/>
                </a:solidFill>
              </a:rPr>
              <a:t>Net:       +$1.2M recovered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949440" y="25054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A"/>
                </a:solidFill>
              </a:rPr>
              <a:t>✓ Addresses root cause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94944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✗ Needs ≥12% retention to break even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47472" y="3639312"/>
            <a:ext cx="2029968" cy="1133856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7472" y="3749040"/>
            <a:ext cx="2029968" cy="753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D4949"/>
                </a:solidFill>
              </a:rPr>
              <a:t>$1.67M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347472" y="4444350"/>
            <a:ext cx="2029968" cy="44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Annual Revenue Lost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560320" y="3639312"/>
            <a:ext cx="2029968" cy="1133856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560320" y="3749040"/>
            <a:ext cx="2029968" cy="753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B3A"/>
                </a:solidFill>
              </a:rPr>
              <a:t>1,869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2560320" y="4444350"/>
            <a:ext cx="2029968" cy="44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Customers Lost / Year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773168" y="3639312"/>
            <a:ext cx="2029968" cy="1133856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773168" y="3749040"/>
            <a:ext cx="2029968" cy="753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B3A"/>
                </a:solidFill>
              </a:rPr>
              <a:t>$370K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4773168" y="4444350"/>
            <a:ext cx="2029968" cy="44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CAC Wasted on Churners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986016" y="3639312"/>
            <a:ext cx="1883664" cy="1133856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912864" y="3749040"/>
            <a:ext cx="2029968" cy="753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F8A"/>
                </a:solidFill>
              </a:rPr>
              <a:t>&lt;5%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6912864" y="4444350"/>
            <a:ext cx="2029968" cy="44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Break-even — Strategy A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347472" y="4825416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</a:rPr>
              <a:t>Prime Target: High Risk × High Value segment (~650 customers · $1.1M annual revenue at risk) — deploy both strategies simultaneously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B4F8A">
              <a:alpha val="18000"/>
            </a:srgbClr>
          </a:solidFill>
          <a:ln w="12700">
            <a:solidFill>
              <a:srgbClr val="1B4F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DD4949">
              <a:alpha val="15000"/>
            </a:srgbClr>
          </a:solidFill>
          <a:ln w="12700">
            <a:solidFill>
              <a:srgbClr val="DD49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D4949"/>
          </a:solidFill>
          <a:ln w="1270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KEY TAKEAWAYS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4041648" cy="15087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960120"/>
            <a:ext cx="54864" cy="1508760"/>
          </a:xfrm>
          <a:prstGeom prst="rect">
            <a:avLst/>
          </a:prstGeom>
          <a:solidFill>
            <a:srgbClr val="DD4949"/>
          </a:solidFill>
          <a:ln w="12700">
            <a:solidFill>
              <a:srgbClr val="DD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051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D4949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" y="14356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Month-to-month is the biggest lever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1728216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43% of M2M customers churn vs 3% on two-year contracts. A targeted upgrade campaign converting 10% of M2M base to annual contracts prevents ~200+ annual churns.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41648" cy="15087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54864" cy="1508760"/>
          </a:xfrm>
          <a:prstGeom prst="rect">
            <a:avLst/>
          </a:prstGeom>
          <a:solidFill>
            <a:srgbClr val="E07B3A"/>
          </a:solidFill>
          <a:ln w="12700">
            <a:solidFill>
              <a:srgbClr val="E07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051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B3A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14356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First 12 months = make or break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728216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47% churn rate in year 1 drops dramatically after month 24. A structured 90-day onboarding program for new fiber subscribers is the highest-ROI retention investment.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624328"/>
            <a:ext cx="4041648" cy="15087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2624328"/>
            <a:ext cx="54864" cy="1508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27157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E44AD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" y="30998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Fiber + no support = 50% churn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" y="3392424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The Fiber × No Tech Support intersection churns at 50%. Proactively bundling Tech Support into fiber plans addresses root cause without discounting.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624328"/>
            <a:ext cx="4041648" cy="1508760"/>
          </a:xfrm>
          <a:prstGeom prst="rect">
            <a:avLst/>
          </a:prstGeom>
          <a:solidFill>
            <a:srgbClr val="132044"/>
          </a:solidFill>
          <a:ln w="9525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2624328"/>
            <a:ext cx="54864" cy="15087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27157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8A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00600" y="30998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 model ready for deployment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392424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AUC 0.851, Recall 79.1% — the model can score all customers monthly. Flag anyone with churn probability &gt; 0.60 for proactive retention outreach.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4663440"/>
            <a:ext cx="8449056" cy="36576"/>
          </a:xfrm>
          <a:prstGeom prst="rect">
            <a:avLst/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4754880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Telco Customer Churn Analysis  ·  Preprocessing → EDA → ML Modeling → Cost Simulation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933</Words>
  <Application>Microsoft Office PowerPoint</Application>
  <PresentationFormat>On-screen Show (16:9)</PresentationFormat>
  <Paragraphs>206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Abdelrahman Mohamed</cp:lastModifiedBy>
  <cp:revision>3</cp:revision>
  <dcterms:created xsi:type="dcterms:W3CDTF">2026-05-09T23:40:40Z</dcterms:created>
  <dcterms:modified xsi:type="dcterms:W3CDTF">2026-05-15T00:09:29Z</dcterms:modified>
</cp:coreProperties>
</file>